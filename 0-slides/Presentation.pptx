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1F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626115-1573-1BB7-A8EB-199D5F273A52}" v="467" dt="2026-10-13T12:55:35.6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l="-2000" r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D6DD2F1-A99F-E009-9872-97098E5A6582}"/>
              </a:ext>
            </a:extLst>
          </p:cNvPr>
          <p:cNvSpPr txBox="1"/>
          <p:nvPr/>
        </p:nvSpPr>
        <p:spPr>
          <a:xfrm>
            <a:off x="1379700" y="5091518"/>
            <a:ext cx="9437912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5400" b="1">
                <a:solidFill>
                  <a:srgbClr val="FFFFFF"/>
                </a:solidFill>
                <a:latin typeface="Aharoni"/>
                <a:cs typeface="Aharoni"/>
              </a:rPr>
              <a:t>We do</a:t>
            </a:r>
            <a:r>
              <a:rPr lang="en-GB" sz="5400" b="1" baseline="30000">
                <a:solidFill>
                  <a:srgbClr val="FFFFFF"/>
                </a:solidFill>
                <a:latin typeface="Aharoni"/>
                <a:cs typeface="Aharoni"/>
              </a:rPr>
              <a:t>(n't)</a:t>
            </a:r>
            <a:r>
              <a:rPr lang="en-GB" sz="5400" b="1" dirty="0">
                <a:solidFill>
                  <a:srgbClr val="FFFFFF"/>
                </a:solidFill>
                <a:latin typeface="Aharoni"/>
                <a:cs typeface="Aharoni"/>
              </a:rPr>
              <a:t> talk about Bruno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ue and white circle with a white circle in the middle&#10;&#10;AI-generated content may be incorrect.">
            <a:extLst>
              <a:ext uri="{FF2B5EF4-FFF2-40B4-BE49-F238E27FC236}">
                <a16:creationId xmlns:a16="http://schemas.microsoft.com/office/drawing/2014/main" id="{DECB54D5-9499-E963-2659-36B6E3C96C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501" y="1213555"/>
            <a:ext cx="4430889" cy="4430889"/>
          </a:xfrm>
          <a:prstGeom prst="rect">
            <a:avLst/>
          </a:prstGeom>
        </p:spPr>
      </p:pic>
      <p:pic>
        <p:nvPicPr>
          <p:cNvPr id="6" name="Picture 5" descr="A logo of a person in a mask&#10;&#10;AI-generated content may be incorrect.">
            <a:extLst>
              <a:ext uri="{FF2B5EF4-FFF2-40B4-BE49-F238E27FC236}">
                <a16:creationId xmlns:a16="http://schemas.microsoft.com/office/drawing/2014/main" id="{20DBA2F2-5C67-4C93-E682-E5D6EB7A5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5722" y="1213555"/>
            <a:ext cx="4430889" cy="4430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079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08FBC0-EA62-A4B1-9C8E-9EF299370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7316930-C31D-0ED7-6F9D-1238C2F372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975" y="1704975"/>
            <a:ext cx="8020050" cy="3448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047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67668A-B049-3213-3083-C48442FA53A5}"/>
              </a:ext>
            </a:extLst>
          </p:cNvPr>
          <p:cNvSpPr txBox="1"/>
          <p:nvPr/>
        </p:nvSpPr>
        <p:spPr>
          <a:xfrm>
            <a:off x="1748464" y="4004273"/>
            <a:ext cx="3542610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GB" sz="4000">
                <a:solidFill>
                  <a:srgbClr val="000000"/>
                </a:solidFill>
              </a:rPr>
              <a:t>Open Source</a:t>
            </a:r>
            <a:endParaRPr lang="en-US"/>
          </a:p>
          <a:p>
            <a:pPr marL="285750" indent="-285750">
              <a:buFont typeface="Arial"/>
              <a:buChar char="•"/>
            </a:pPr>
            <a:endParaRPr lang="en-GB" sz="4000" dirty="0">
              <a:solidFill>
                <a:srgbClr val="000000"/>
              </a:solidFill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GB" sz="4000">
                <a:solidFill>
                  <a:srgbClr val="000000"/>
                </a:solidFill>
                <a:ea typeface="+mn-lt"/>
                <a:cs typeface="+mn-lt"/>
              </a:rPr>
              <a:t>100% local</a:t>
            </a:r>
            <a:endParaRPr lang="en-GB" sz="4000">
              <a:solidFill>
                <a:srgbClr val="000000"/>
              </a:solidFill>
            </a:endParaRPr>
          </a:p>
        </p:txBody>
      </p:sp>
      <p:pic>
        <p:nvPicPr>
          <p:cNvPr id="3" name="Picture 2" descr="A dog with its tongue out&#10;&#10;AI-generated content may be incorrect.">
            <a:extLst>
              <a:ext uri="{FF2B5EF4-FFF2-40B4-BE49-F238E27FC236}">
                <a16:creationId xmlns:a16="http://schemas.microsoft.com/office/drawing/2014/main" id="{0845CC72-AEE8-F967-21BA-F3AD9B5BC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7637" y="-2646"/>
            <a:ext cx="4276725" cy="385762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8A5DC6-2400-2900-5A4B-A0512A17246E}"/>
              </a:ext>
            </a:extLst>
          </p:cNvPr>
          <p:cNvSpPr txBox="1"/>
          <p:nvPr/>
        </p:nvSpPr>
        <p:spPr>
          <a:xfrm>
            <a:off x="7010924" y="4003617"/>
            <a:ext cx="4564517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GB" sz="4000">
                <a:solidFill>
                  <a:srgbClr val="000000"/>
                </a:solidFill>
                <a:ea typeface="+mn-lt"/>
                <a:cs typeface="+mn-lt"/>
              </a:rPr>
              <a:t>Git-native</a:t>
            </a:r>
            <a:endParaRPr lang="en-GB" sz="4000">
              <a:solidFill>
                <a:srgbClr val="000000"/>
              </a:solidFill>
            </a:endParaRPr>
          </a:p>
          <a:p>
            <a:pPr marL="285750" indent="-285750">
              <a:buFont typeface="Arial"/>
              <a:buChar char="•"/>
            </a:pPr>
            <a:endParaRPr lang="en-GB" sz="4000" dirty="0">
              <a:solidFill>
                <a:srgbClr val="000000"/>
              </a:solidFill>
            </a:endParaRPr>
          </a:p>
          <a:p>
            <a:pPr marL="285750" indent="-285750">
              <a:buFont typeface="Arial"/>
              <a:buChar char="•"/>
            </a:pPr>
            <a:r>
              <a:rPr lang="en-GB" sz="4000">
                <a:solidFill>
                  <a:srgbClr val="000000"/>
                </a:solidFill>
              </a:rPr>
              <a:t>Switching is easy</a:t>
            </a:r>
          </a:p>
        </p:txBody>
      </p:sp>
    </p:spTree>
    <p:extLst>
      <p:ext uri="{BB962C8B-B14F-4D97-AF65-F5344CB8AC3E}">
        <p14:creationId xmlns:p14="http://schemas.microsoft.com/office/powerpoint/2010/main" val="879312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66B2A-3FD1-D07C-C9A1-21F57DAC9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038565-ADDB-6CE8-A54D-AB02EBB4379F}"/>
              </a:ext>
            </a:extLst>
          </p:cNvPr>
          <p:cNvSpPr txBox="1"/>
          <p:nvPr/>
        </p:nvSpPr>
        <p:spPr>
          <a:xfrm>
            <a:off x="1004185" y="920831"/>
            <a:ext cx="5184748" cy="501675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GB" sz="4000"/>
              <a:t>Scripting</a:t>
            </a:r>
            <a:endParaRPr lang="en-US"/>
          </a:p>
          <a:p>
            <a:pPr marL="285750" indent="-285750">
              <a:buFont typeface="Arial"/>
              <a:buChar char="•"/>
            </a:pPr>
            <a:endParaRPr lang="en-GB" sz="4000" dirty="0"/>
          </a:p>
          <a:p>
            <a:pPr marL="285750" indent="-285750">
              <a:buFont typeface="Arial"/>
              <a:buChar char="•"/>
            </a:pPr>
            <a:r>
              <a:rPr lang="en-GB" sz="4000"/>
              <a:t>Automated Testing</a:t>
            </a:r>
          </a:p>
          <a:p>
            <a:pPr marL="285750" indent="-285750">
              <a:buFont typeface="Arial"/>
              <a:buChar char="•"/>
            </a:pPr>
            <a:endParaRPr lang="en-GB" sz="4000" dirty="0"/>
          </a:p>
          <a:p>
            <a:pPr marL="285750" indent="-285750">
              <a:buFont typeface="Arial,Sans-Serif"/>
              <a:buChar char="•"/>
            </a:pPr>
            <a:r>
              <a:rPr lang="en-GB" sz="4000"/>
              <a:t>Parent Environments</a:t>
            </a:r>
          </a:p>
          <a:p>
            <a:pPr marL="285750" indent="-285750">
              <a:buFont typeface="Arial,Sans-Serif"/>
              <a:buChar char="•"/>
            </a:pPr>
            <a:endParaRPr lang="en-GB" sz="4000" dirty="0"/>
          </a:p>
          <a:p>
            <a:pPr marL="285750" indent="-285750">
              <a:buFont typeface="Arial,Sans-Serif"/>
              <a:buChar char="•"/>
            </a:pPr>
            <a:r>
              <a:rPr lang="en-GB" sz="4000"/>
              <a:t>… and more</a:t>
            </a:r>
          </a:p>
          <a:p>
            <a:pPr marL="285750" indent="-285750">
              <a:buFont typeface="Arial"/>
              <a:buChar char="•"/>
            </a:pPr>
            <a:endParaRPr lang="en-GB" sz="4000" dirty="0"/>
          </a:p>
        </p:txBody>
      </p:sp>
      <p:pic>
        <p:nvPicPr>
          <p:cNvPr id="5" name="Picture 4" descr="A cartoon of a person holding a mouse&#10;&#10;AI-generated content may be incorrect.">
            <a:extLst>
              <a:ext uri="{FF2B5EF4-FFF2-40B4-BE49-F238E27FC236}">
                <a16:creationId xmlns:a16="http://schemas.microsoft.com/office/drawing/2014/main" id="{5D1E8F6E-58F1-D1F6-3806-6A600E17A6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875" y="0"/>
            <a:ext cx="3918017" cy="6858000"/>
          </a:xfrm>
          <a:prstGeom prst="rect">
            <a:avLst/>
          </a:prstGeom>
        </p:spPr>
      </p:pic>
      <p:pic>
        <p:nvPicPr>
          <p:cNvPr id="9" name="Picture 8" descr="A dog with its tongue out&#10;&#10;AI-generated content may be incorrect.">
            <a:extLst>
              <a:ext uri="{FF2B5EF4-FFF2-40B4-BE49-F238E27FC236}">
                <a16:creationId xmlns:a16="http://schemas.microsoft.com/office/drawing/2014/main" id="{C1874F53-53C6-161E-19A2-792A91AD57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480000">
            <a:off x="9342666" y="1954531"/>
            <a:ext cx="698247" cy="629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2950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141</cp:revision>
  <dcterms:created xsi:type="dcterms:W3CDTF">2026-10-13T11:26:55Z</dcterms:created>
  <dcterms:modified xsi:type="dcterms:W3CDTF">2026-10-13T12:59:28Z</dcterms:modified>
</cp:coreProperties>
</file>