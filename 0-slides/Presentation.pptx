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26115-1573-1BB7-A8EB-199D5F273A52}" v="467" dt="2026-10-13T12:55:35.680"/>
    <p1510:client id="{64AAF726-514A-CCB7-E800-946F51BE5700}" v="353" dt="2026-10-15T09:28:33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DD2F1-A99F-E009-9872-97098E5A6582}"/>
              </a:ext>
            </a:extLst>
          </p:cNvPr>
          <p:cNvSpPr txBox="1"/>
          <p:nvPr/>
        </p:nvSpPr>
        <p:spPr>
          <a:xfrm>
            <a:off x="1379700" y="5091518"/>
            <a:ext cx="94379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5400" b="1">
                <a:solidFill>
                  <a:srgbClr val="FFFFFF"/>
                </a:solidFill>
                <a:latin typeface="Aharoni"/>
                <a:cs typeface="Aharoni"/>
              </a:rPr>
              <a:t>We do</a:t>
            </a:r>
            <a:r>
              <a:rPr lang="en-GB" sz="5400" b="1" baseline="30000">
                <a:solidFill>
                  <a:srgbClr val="FFFFFF"/>
                </a:solidFill>
                <a:latin typeface="Aharoni"/>
                <a:cs typeface="Aharoni"/>
              </a:rPr>
              <a:t>(n't)</a:t>
            </a:r>
            <a:r>
              <a:rPr lang="en-GB" sz="5400" b="1" dirty="0">
                <a:solidFill>
                  <a:srgbClr val="FFFFFF"/>
                </a:solidFill>
                <a:latin typeface="Aharoni"/>
                <a:cs typeface="Aharoni"/>
              </a:rPr>
              <a:t> talk about Bruno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circle with a white circle in the middle&#10;&#10;AI-generated content may be incorrect.">
            <a:extLst>
              <a:ext uri="{FF2B5EF4-FFF2-40B4-BE49-F238E27FC236}">
                <a16:creationId xmlns:a16="http://schemas.microsoft.com/office/drawing/2014/main" id="{DECB54D5-9499-E963-2659-36B6E3C96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1" y="1213555"/>
            <a:ext cx="4430889" cy="4430889"/>
          </a:xfrm>
          <a:prstGeom prst="rect">
            <a:avLst/>
          </a:prstGeom>
        </p:spPr>
      </p:pic>
      <p:pic>
        <p:nvPicPr>
          <p:cNvPr id="6" name="Picture 5" descr="postman logo">
            <a:extLst>
              <a:ext uri="{FF2B5EF4-FFF2-40B4-BE49-F238E27FC236}">
                <a16:creationId xmlns:a16="http://schemas.microsoft.com/office/drawing/2014/main" id="{20DBA2F2-5C67-4C93-E682-E5D6EB7A5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722" y="1213555"/>
            <a:ext cx="4430889" cy="443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8FBC0-EA62-A4B1-9C8E-9EF29937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316930-C31D-0ED7-6F9D-1238C2F37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1704975"/>
            <a:ext cx="80200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4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67668A-B049-3213-3083-C48442FA53A5}"/>
              </a:ext>
            </a:extLst>
          </p:cNvPr>
          <p:cNvSpPr txBox="1"/>
          <p:nvPr/>
        </p:nvSpPr>
        <p:spPr>
          <a:xfrm>
            <a:off x="1547078" y="4004273"/>
            <a:ext cx="393449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4000">
                <a:solidFill>
                  <a:srgbClr val="000000"/>
                </a:solidFill>
                <a:latin typeface="Aharoni"/>
                <a:cs typeface="Aharoni"/>
              </a:rPr>
              <a:t>Open Source</a:t>
            </a:r>
            <a:endParaRPr lang="en-US" sz="4000">
              <a:latin typeface="Aharoni"/>
              <a:cs typeface="Aharoni"/>
            </a:endParaRPr>
          </a:p>
          <a:p>
            <a:pPr marL="285750" indent="-285750">
              <a:buFont typeface="Arial"/>
              <a:buChar char="•"/>
            </a:pPr>
            <a:endParaRPr lang="en-GB" sz="4000" dirty="0">
              <a:solidFill>
                <a:srgbClr val="000000"/>
              </a:solidFill>
              <a:latin typeface="Aharoni"/>
              <a:ea typeface="+mn-lt"/>
              <a:cs typeface="Aharoni"/>
            </a:endParaRPr>
          </a:p>
          <a:p>
            <a:pPr marL="285750" indent="-285750">
              <a:buFont typeface="Arial"/>
              <a:buChar char="•"/>
            </a:pPr>
            <a:r>
              <a:rPr lang="en-GB" sz="4000">
                <a:solidFill>
                  <a:srgbClr val="000000"/>
                </a:solidFill>
                <a:latin typeface="Aharoni"/>
                <a:ea typeface="+mn-lt"/>
                <a:cs typeface="Aharoni"/>
              </a:rPr>
              <a:t>100% local</a:t>
            </a:r>
            <a:endParaRPr lang="en-GB" sz="4000">
              <a:solidFill>
                <a:srgbClr val="000000"/>
              </a:solidFill>
              <a:latin typeface="Aharoni"/>
              <a:cs typeface="Aharoni"/>
            </a:endParaRPr>
          </a:p>
        </p:txBody>
      </p:sp>
      <p:pic>
        <p:nvPicPr>
          <p:cNvPr id="3" name="Picture 2" descr="A dog with its tongue out&#10;&#10;AI-generated content may be incorrect.">
            <a:extLst>
              <a:ext uri="{FF2B5EF4-FFF2-40B4-BE49-F238E27FC236}">
                <a16:creationId xmlns:a16="http://schemas.microsoft.com/office/drawing/2014/main" id="{0845CC72-AEE8-F967-21BA-F3AD9B5B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637" y="-2646"/>
            <a:ext cx="4276725" cy="3857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8A5DC6-2400-2900-5A4B-A0512A17246E}"/>
              </a:ext>
            </a:extLst>
          </p:cNvPr>
          <p:cNvSpPr txBox="1"/>
          <p:nvPr/>
        </p:nvSpPr>
        <p:spPr>
          <a:xfrm>
            <a:off x="6940167" y="4003617"/>
            <a:ext cx="470058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4000">
                <a:solidFill>
                  <a:srgbClr val="000000"/>
                </a:solidFill>
                <a:latin typeface="Aharoni"/>
                <a:ea typeface="+mn-lt"/>
                <a:cs typeface="Aharoni"/>
              </a:rPr>
              <a:t>Git-native</a:t>
            </a:r>
            <a:endParaRPr lang="en-GB" sz="4000">
              <a:solidFill>
                <a:srgbClr val="000000"/>
              </a:solidFill>
              <a:latin typeface="Aharoni"/>
              <a:cs typeface="Aharoni"/>
            </a:endParaRPr>
          </a:p>
          <a:p>
            <a:pPr marL="285750" indent="-285750">
              <a:buFont typeface="Arial"/>
              <a:buChar char="•"/>
            </a:pPr>
            <a:endParaRPr lang="en-GB" sz="4000" dirty="0">
              <a:solidFill>
                <a:srgbClr val="000000"/>
              </a:solidFill>
              <a:latin typeface="Aharoni"/>
              <a:cs typeface="Aharoni"/>
            </a:endParaRPr>
          </a:p>
          <a:p>
            <a:pPr marL="285750" indent="-285750">
              <a:buFont typeface="Arial"/>
              <a:buChar char="•"/>
            </a:pPr>
            <a:r>
              <a:rPr lang="en-GB" sz="4000">
                <a:solidFill>
                  <a:srgbClr val="000000"/>
                </a:solidFill>
                <a:latin typeface="Aharoni"/>
                <a:cs typeface="Aharoni"/>
              </a:rPr>
              <a:t>Switching is easy</a:t>
            </a:r>
          </a:p>
        </p:txBody>
      </p:sp>
    </p:spTree>
    <p:extLst>
      <p:ext uri="{BB962C8B-B14F-4D97-AF65-F5344CB8AC3E}">
        <p14:creationId xmlns:p14="http://schemas.microsoft.com/office/powerpoint/2010/main" val="879312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66B2A-3FD1-D07C-C9A1-21F57DAC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38565-ADDB-6CE8-A54D-AB02EBB4379F}"/>
              </a:ext>
            </a:extLst>
          </p:cNvPr>
          <p:cNvSpPr txBox="1"/>
          <p:nvPr/>
        </p:nvSpPr>
        <p:spPr>
          <a:xfrm>
            <a:off x="1004185" y="920831"/>
            <a:ext cx="5184748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4000">
                <a:latin typeface="Aharoni"/>
                <a:cs typeface="Aharoni"/>
              </a:rPr>
              <a:t>Scripting</a:t>
            </a:r>
            <a:endParaRPr lang="en-US" sz="4000">
              <a:latin typeface="Aharoni"/>
              <a:cs typeface="Aharoni"/>
            </a:endParaRPr>
          </a:p>
          <a:p>
            <a:pPr marL="285750" indent="-285750">
              <a:buFont typeface="Arial"/>
              <a:buChar char="•"/>
            </a:pPr>
            <a:endParaRPr lang="en-GB" sz="4000" dirty="0">
              <a:latin typeface="Aharoni"/>
              <a:cs typeface="Aharoni"/>
            </a:endParaRPr>
          </a:p>
          <a:p>
            <a:pPr marL="285750" indent="-285750">
              <a:buFont typeface="Arial"/>
              <a:buChar char="•"/>
            </a:pPr>
            <a:r>
              <a:rPr lang="en-GB" sz="4000">
                <a:latin typeface="Aharoni"/>
                <a:cs typeface="Aharoni"/>
              </a:rPr>
              <a:t>Automated Testing</a:t>
            </a:r>
          </a:p>
          <a:p>
            <a:pPr marL="285750" indent="-285750">
              <a:buFont typeface="Arial"/>
              <a:buChar char="•"/>
            </a:pPr>
            <a:endParaRPr lang="en-GB" sz="4000" dirty="0">
              <a:latin typeface="Aharoni"/>
              <a:cs typeface="Aharoni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4000">
                <a:latin typeface="Aharoni"/>
                <a:cs typeface="Aharoni"/>
              </a:rPr>
              <a:t>Parent Environments</a:t>
            </a:r>
          </a:p>
          <a:p>
            <a:pPr marL="285750" indent="-285750">
              <a:buFont typeface="Arial,Sans-Serif"/>
              <a:buChar char="•"/>
            </a:pPr>
            <a:endParaRPr lang="en-GB" sz="4000" dirty="0">
              <a:latin typeface="Aharoni"/>
              <a:cs typeface="Aharoni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4000">
                <a:latin typeface="Aharoni"/>
                <a:cs typeface="Aharoni"/>
              </a:rPr>
              <a:t>… and more</a:t>
            </a:r>
          </a:p>
          <a:p>
            <a:pPr marL="285750" indent="-285750">
              <a:buFont typeface="Arial"/>
              <a:buChar char="•"/>
            </a:pPr>
            <a:endParaRPr lang="en-GB" sz="4000" dirty="0">
              <a:latin typeface="Aharoni"/>
              <a:cs typeface="Aharoni"/>
            </a:endParaRPr>
          </a:p>
        </p:txBody>
      </p:sp>
      <p:pic>
        <p:nvPicPr>
          <p:cNvPr id="5" name="Picture 4" descr="Bruno holding Bruno">
            <a:extLst>
              <a:ext uri="{FF2B5EF4-FFF2-40B4-BE49-F238E27FC236}">
                <a16:creationId xmlns:a16="http://schemas.microsoft.com/office/drawing/2014/main" id="{5D1E8F6E-58F1-D1F6-3806-6A600E17A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875" y="0"/>
            <a:ext cx="3918017" cy="6858000"/>
          </a:xfrm>
          <a:prstGeom prst="rect">
            <a:avLst/>
          </a:prstGeom>
        </p:spPr>
      </p:pic>
      <p:pic>
        <p:nvPicPr>
          <p:cNvPr id="9" name="Picture 8" descr="A dog with its tongue out&#10;&#10;AI-generated content may be incorrect.">
            <a:extLst>
              <a:ext uri="{FF2B5EF4-FFF2-40B4-BE49-F238E27FC236}">
                <a16:creationId xmlns:a16="http://schemas.microsoft.com/office/drawing/2014/main" id="{C1874F53-53C6-161E-19A2-792A91AD5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9342666" y="1954531"/>
            <a:ext cx="698247" cy="62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95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52ED74-0E73-DB84-5977-1D257AE0A44E}"/>
              </a:ext>
            </a:extLst>
          </p:cNvPr>
          <p:cNvSpPr txBox="1"/>
          <p:nvPr/>
        </p:nvSpPr>
        <p:spPr>
          <a:xfrm>
            <a:off x="910603" y="794740"/>
            <a:ext cx="6890657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800" dirty="0" err="1">
                <a:latin typeface="Aharoni"/>
                <a:cs typeface="Aharoni"/>
              </a:rPr>
              <a:t>GraphQL</a:t>
            </a:r>
            <a:r>
              <a:rPr lang="en-US" sz="2800" dirty="0">
                <a:latin typeface="Aharoni"/>
                <a:cs typeface="Aharoni"/>
              </a:rPr>
              <a:t>, </a:t>
            </a:r>
            <a:r>
              <a:rPr lang="en-US" sz="2800" dirty="0" err="1">
                <a:latin typeface="Aharoni"/>
                <a:cs typeface="Aharoni"/>
              </a:rPr>
              <a:t>gRPC</a:t>
            </a:r>
            <a:r>
              <a:rPr lang="en-US" sz="2800" dirty="0">
                <a:latin typeface="Aharoni"/>
                <a:cs typeface="Aharoni"/>
              </a:rPr>
              <a:t>, WebSocket Support</a:t>
            </a: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haroni"/>
                <a:cs typeface="Aharoni"/>
              </a:rPr>
              <a:t>Cookies</a:t>
            </a:r>
            <a:endParaRPr lang="en-US" sz="2800" dirty="0">
              <a:latin typeface="Aharoni"/>
              <a:cs typeface="Aharoni"/>
            </a:endParaRP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haroni"/>
                <a:cs typeface="Aharoni"/>
              </a:rPr>
              <a:t>Proxy</a:t>
            </a:r>
            <a:endParaRPr lang="en-US" sz="2800" dirty="0">
              <a:latin typeface="Aharoni"/>
              <a:cs typeface="Aharoni"/>
            </a:endParaRP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haroni"/>
                <a:cs typeface="Aharoni"/>
              </a:rPr>
              <a:t>Client Certificates</a:t>
            </a:r>
            <a:endParaRPr lang="en-US" sz="2800" dirty="0">
              <a:latin typeface="Aharoni"/>
              <a:cs typeface="Aharoni"/>
            </a:endParaRPr>
          </a:p>
          <a:p>
            <a:pPr marL="342900" indent="-342900">
              <a:buFont typeface="Arial"/>
              <a:buChar char="•"/>
            </a:pPr>
            <a:r>
              <a:rPr lang="en-US" sz="2800" dirty="0" err="1">
                <a:latin typeface="Aharoni"/>
                <a:cs typeface="Aharoni"/>
              </a:rPr>
              <a:t>Protobuf</a:t>
            </a:r>
            <a:r>
              <a:rPr lang="en-US" sz="2800" dirty="0">
                <a:latin typeface="Aharoni"/>
                <a:cs typeface="Aharoni"/>
              </a:rPr>
              <a:t> Files</a:t>
            </a:r>
          </a:p>
          <a:p>
            <a:pPr marL="342900" indent="-342900">
              <a:buFont typeface="Arial"/>
              <a:buChar char="•"/>
            </a:pPr>
            <a:r>
              <a:rPr lang="en-US" sz="2800" dirty="0">
                <a:latin typeface="Aharoni"/>
                <a:cs typeface="Aharoni"/>
              </a:rPr>
              <a:t>Export as </a:t>
            </a:r>
            <a:r>
              <a:rPr lang="en-US" sz="2800" dirty="0" err="1">
                <a:latin typeface="Aharoni"/>
                <a:cs typeface="Aharoni"/>
              </a:rPr>
              <a:t>OpenAPI.yml</a:t>
            </a:r>
            <a:endParaRPr lang="en-US" sz="2800" dirty="0">
              <a:latin typeface="Aharoni"/>
              <a:cs typeface="Aharoni"/>
            </a:endParaRP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haroni"/>
                <a:cs typeface="Aharoni"/>
              </a:rPr>
              <a:t>Dir scoped Vars/Tests/Scripts</a:t>
            </a:r>
            <a:endParaRPr lang="en-US" sz="2800" dirty="0">
              <a:latin typeface="Aharoni"/>
              <a:cs typeface="Aharoni"/>
            </a:endParaRP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haroni"/>
                <a:cs typeface="Aharoni"/>
              </a:rPr>
              <a:t>External Secrets Manager</a:t>
            </a:r>
            <a:endParaRPr lang="en-US" sz="2800" dirty="0">
              <a:latin typeface="Aharoni"/>
              <a:cs typeface="Aharoni"/>
            </a:endParaRP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haroni"/>
                <a:cs typeface="Aharoni"/>
              </a:rPr>
              <a:t>Bring</a:t>
            </a:r>
            <a:r>
              <a:rPr lang="en-US" sz="2800" dirty="0">
                <a:latin typeface="Aharoni"/>
                <a:cs typeface="Aharoni"/>
              </a:rPr>
              <a:t> your own AI key</a:t>
            </a: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haroni"/>
                <a:cs typeface="Aharoni"/>
              </a:rPr>
              <a:t>CLI</a:t>
            </a:r>
            <a:endParaRPr lang="en-US" sz="2800" dirty="0">
              <a:latin typeface="Aharoni"/>
              <a:cs typeface="Aharoni"/>
            </a:endParaRPr>
          </a:p>
          <a:p>
            <a:pPr marL="342900" indent="-342900">
              <a:buFont typeface="Arial"/>
              <a:buChar char="•"/>
            </a:pPr>
            <a:r>
              <a:rPr lang="en-US" sz="2800" dirty="0" err="1">
                <a:latin typeface="Aharoni"/>
                <a:cs typeface="Aharoni"/>
              </a:rPr>
              <a:t>VSCode</a:t>
            </a:r>
            <a:r>
              <a:rPr lang="en-US" sz="2800" dirty="0">
                <a:latin typeface="Aharoni"/>
                <a:cs typeface="Aharoni"/>
              </a:rPr>
              <a:t> Plugin</a:t>
            </a: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haroni"/>
                <a:cs typeface="Aharoni"/>
              </a:rPr>
              <a:t>...</a:t>
            </a:r>
            <a:endParaRPr lang="en-US" sz="2800" dirty="0">
              <a:latin typeface="Aharoni"/>
              <a:cs typeface="Aharoni"/>
            </a:endParaRPr>
          </a:p>
        </p:txBody>
      </p:sp>
      <p:pic>
        <p:nvPicPr>
          <p:cNvPr id="4" name="Picture 3" descr="Bruno holding Bruno">
            <a:extLst>
              <a:ext uri="{FF2B5EF4-FFF2-40B4-BE49-F238E27FC236}">
                <a16:creationId xmlns:a16="http://schemas.microsoft.com/office/drawing/2014/main" id="{DA4CC72E-2447-27B3-18B0-6324E9A1D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875" y="0"/>
            <a:ext cx="3918017" cy="6858000"/>
          </a:xfrm>
          <a:prstGeom prst="rect">
            <a:avLst/>
          </a:prstGeom>
        </p:spPr>
      </p:pic>
      <p:pic>
        <p:nvPicPr>
          <p:cNvPr id="6" name="Picture 5" descr="A dog with its tongue out&#10;&#10;AI-generated content may be incorrect.">
            <a:extLst>
              <a:ext uri="{FF2B5EF4-FFF2-40B4-BE49-F238E27FC236}">
                <a16:creationId xmlns:a16="http://schemas.microsoft.com/office/drawing/2014/main" id="{A4E5C95E-A7CB-2A2A-1B34-7EB4C3001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9342666" y="1954531"/>
            <a:ext cx="698247" cy="62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4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198</cp:revision>
  <dcterms:created xsi:type="dcterms:W3CDTF">2026-10-13T11:26:55Z</dcterms:created>
  <dcterms:modified xsi:type="dcterms:W3CDTF">2026-10-16T08:40:02Z</dcterms:modified>
</cp:coreProperties>
</file>